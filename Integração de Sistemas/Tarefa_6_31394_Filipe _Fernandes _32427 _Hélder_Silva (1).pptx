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9" r:id="rId2"/>
    <p:sldId id="258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51" r:id="rId15"/>
    <p:sldId id="260" r:id="rId1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2"/>
    <p:restoredTop sz="89660" autoAdjust="0"/>
  </p:normalViewPr>
  <p:slideViewPr>
    <p:cSldViewPr>
      <p:cViewPr varScale="1">
        <p:scale>
          <a:sx n="109" d="100"/>
          <a:sy n="109" d="100"/>
        </p:scale>
        <p:origin x="1664" y="19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06/10/25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06/10/25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5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12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554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1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68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33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491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348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76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256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58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5259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dges.gov.pt/coloc/2025/col1listas.as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" TargetMode="External"/><Relationship Id="rId3" Type="http://schemas.openxmlformats.org/officeDocument/2006/relationships/hyperlink" Target="https://www.dges.gov.pt/" TargetMode="External"/><Relationship Id="rId7" Type="http://schemas.openxmlformats.org/officeDocument/2006/relationships/hyperlink" Target="https://pandas.pydata.org/" TargetMode="Externa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rummy.com/software/BeautifulSoup/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requests.readthedocs.io/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docs.python.org/3/" TargetMode="Externa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92923" y="3760062"/>
            <a:ext cx="5143500" cy="404742"/>
          </a:xfrm>
        </p:spPr>
        <p:txBody>
          <a:bodyPr>
            <a:noAutofit/>
          </a:bodyPr>
          <a:lstStyle/>
          <a:p>
            <a:r>
              <a:rPr lang="pt-PT" sz="2500" b="1" dirty="0">
                <a:solidFill>
                  <a:schemeClr val="bg1"/>
                </a:solidFill>
              </a:rPr>
              <a:t>Tarefa 6 – Exploração da Extração de Informação na DGS (Colocações Ensino Superior)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1.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Fonte de Dados (DGS / DGES)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3.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Estrutura do Código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Extração e Tratamento da Informação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Geração do Ficheiro CSV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6. Resultados Obtidos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7. Conclusão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8. Bibliografia / Referências</a:t>
            </a:r>
            <a:endParaRPr lang="pt-PT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421312E-9868-114E-A3C9-FCFB7334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95" y="0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Explorar e compreender o processo de </a:t>
            </a:r>
            <a:r>
              <a:rPr lang="pt-PT" sz="2000" b="1" dirty="0"/>
              <a:t>extração automática de informação pública</a:t>
            </a:r>
            <a:r>
              <a:rPr lang="pt-PT" sz="2000" dirty="0"/>
              <a:t> disponibilizada pela DGES (colocações no ensino superior).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Desenvolver um </a:t>
            </a:r>
            <a:r>
              <a:rPr lang="pt-PT" sz="2000" b="1" dirty="0"/>
              <a:t>script em </a:t>
            </a:r>
            <a:r>
              <a:rPr lang="pt-PT" sz="2000" b="1" dirty="0" err="1"/>
              <a:t>Python</a:t>
            </a:r>
            <a:r>
              <a:rPr lang="pt-PT" sz="2000" dirty="0"/>
              <a:t> para recolher, tratar e armazenar dados de colocação dos alunos por curso e instituição.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Consolidar o uso de </a:t>
            </a:r>
            <a:r>
              <a:rPr lang="pt-PT" sz="2000" b="1" dirty="0" err="1"/>
              <a:t>requests</a:t>
            </a:r>
            <a:r>
              <a:rPr lang="pt-PT" sz="2000" b="1" dirty="0"/>
              <a:t>, </a:t>
            </a:r>
            <a:r>
              <a:rPr lang="pt-PT" sz="2000" b="1" dirty="0" err="1"/>
              <a:t>BeautifulSoup</a:t>
            </a:r>
            <a:r>
              <a:rPr lang="pt-PT" sz="2000" b="1" dirty="0"/>
              <a:t> e pandas</a:t>
            </a:r>
            <a:r>
              <a:rPr lang="pt-PT" sz="2000" dirty="0"/>
              <a:t> para automação de recolha de dados estruturados.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Criar um </a:t>
            </a:r>
            <a:r>
              <a:rPr lang="pt-PT" sz="2000" b="1" dirty="0"/>
              <a:t>ficheiro CSV final</a:t>
            </a:r>
            <a:r>
              <a:rPr lang="pt-PT" sz="2000" dirty="0"/>
              <a:t> com a lista de alunos colocados em cada curso/instituição.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6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Fonte de Dados (DGS / DGES)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programa acede às páginas públicas da </a:t>
            </a:r>
            <a:r>
              <a:rPr lang="pt-PT" sz="2000" b="1" dirty="0"/>
              <a:t>Direção-Geral do Ensino Superior (DGES)</a:t>
            </a:r>
            <a:r>
              <a:rPr lang="pt-PT" sz="2000" dirty="0"/>
              <a:t>, que disponibiliza listas de </a:t>
            </a:r>
            <a:r>
              <a:rPr lang="pt-PT" sz="2000" b="1" dirty="0"/>
              <a:t>colocações do ensino superior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São utilizadas </a:t>
            </a:r>
            <a:r>
              <a:rPr lang="pt-PT" sz="2000" b="1" dirty="0"/>
              <a:t>três páginas principais</a:t>
            </a:r>
            <a:r>
              <a:rPr lang="pt-PT" sz="2000" dirty="0"/>
              <a:t>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pt-PT" sz="2000" dirty="0"/>
              <a:t>Listagem de </a:t>
            </a:r>
            <a:r>
              <a:rPr lang="pt-PT" sz="2000" b="1" dirty="0"/>
              <a:t>instituições</a:t>
            </a:r>
            <a:r>
              <a:rPr lang="pt-PT" sz="2000" dirty="0"/>
              <a:t> (universidades e politécnicos).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pt-PT" sz="2000" dirty="0"/>
              <a:t>Listagem de </a:t>
            </a:r>
            <a:r>
              <a:rPr lang="pt-PT" sz="2000" b="1" dirty="0"/>
              <a:t>cursos</a:t>
            </a:r>
            <a:r>
              <a:rPr lang="pt-PT" sz="2000" dirty="0"/>
              <a:t> por instituição.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pt-PT" sz="2000" dirty="0"/>
              <a:t>Listagem de </a:t>
            </a:r>
            <a:r>
              <a:rPr lang="pt-PT" sz="2000" b="1" dirty="0"/>
              <a:t>alunos colocados</a:t>
            </a:r>
            <a:r>
              <a:rPr lang="pt-PT" sz="2000" dirty="0"/>
              <a:t> em cada curso.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extração é feita através de requisições HTTP (</a:t>
            </a:r>
            <a:r>
              <a:rPr lang="pt-PT" sz="2000" dirty="0" err="1"/>
              <a:t>requests</a:t>
            </a:r>
            <a:r>
              <a:rPr lang="pt-PT" sz="2000" dirty="0"/>
              <a:t>) e análise do HTML (</a:t>
            </a:r>
            <a:r>
              <a:rPr lang="pt-PT" sz="2000" dirty="0" err="1"/>
              <a:t>BeautifulSoup</a:t>
            </a:r>
            <a:r>
              <a:rPr lang="pt-PT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objetivo é percorrer todas as instituições e recolher os nomes e identificadores dos alunos colocados, gerando um ficheiro único de resultados.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F11117-4829-A658-2D33-DF5357469244}"/>
              </a:ext>
            </a:extLst>
          </p:cNvPr>
          <p:cNvSpPr txBox="1"/>
          <p:nvPr/>
        </p:nvSpPr>
        <p:spPr>
          <a:xfrm>
            <a:off x="124671" y="6096688"/>
            <a:ext cx="504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Fonte: </a:t>
            </a:r>
            <a:r>
              <a:rPr lang="pt-PT" sz="1600" dirty="0" err="1">
                <a:hlinkClick r:id="rId7"/>
              </a:rPr>
              <a:t>https</a:t>
            </a:r>
            <a:r>
              <a:rPr lang="pt-PT" sz="1600" dirty="0">
                <a:hlinkClick r:id="rId7"/>
              </a:rPr>
              <a:t>://</a:t>
            </a:r>
            <a:r>
              <a:rPr lang="pt-PT" sz="1600" dirty="0" err="1">
                <a:hlinkClick r:id="rId7"/>
              </a:rPr>
              <a:t>www.dges.gov.pt</a:t>
            </a:r>
            <a:r>
              <a:rPr lang="pt-PT" sz="1600" dirty="0">
                <a:hlinkClick r:id="rId7"/>
              </a:rPr>
              <a:t>/</a:t>
            </a:r>
            <a:r>
              <a:rPr lang="pt-PT" sz="1600" dirty="0" err="1">
                <a:hlinkClick r:id="rId7"/>
              </a:rPr>
              <a:t>coloc</a:t>
            </a:r>
            <a:r>
              <a:rPr lang="pt-PT" sz="1600" dirty="0">
                <a:hlinkClick r:id="rId7"/>
              </a:rPr>
              <a:t>/2025/col1listas.asp</a:t>
            </a:r>
            <a:r>
              <a:rPr lang="pt-PT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19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Estrutura do código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ficheiro principal é </a:t>
            </a:r>
            <a:r>
              <a:rPr lang="pt-PT" sz="2000" b="1" dirty="0"/>
              <a:t>tarefa6.py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Bibliotecas utilizadas: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requests</a:t>
            </a:r>
            <a:r>
              <a:rPr lang="pt-PT" sz="2000" dirty="0"/>
              <a:t> – comunicação HTTP com o site.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BeautifulSoup</a:t>
            </a:r>
            <a:r>
              <a:rPr lang="pt-PT" sz="2000" dirty="0"/>
              <a:t> – extração e análise do conteúdo HTML.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pandas – estruturação e exportação dos dados para CSV.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os, time, </a:t>
            </a:r>
            <a:r>
              <a:rPr lang="pt-PT" sz="2000" dirty="0" err="1"/>
              <a:t>re</a:t>
            </a:r>
            <a:r>
              <a:rPr lang="pt-PT" sz="2000" dirty="0"/>
              <a:t> – manipulação de ficheiros, pausas entre pedidos e expressões regulares.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Principais constantes: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URLs</a:t>
            </a:r>
            <a:r>
              <a:rPr lang="pt-PT" sz="2000" dirty="0"/>
              <a:t> para listas de instituições, cursos e colocados.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Lista TIPOS_INSTITUICAO com códigos para universidades e politécnicos.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Tempo de espera (DELAY) entre pedidos para evitar sobrecarga no servidor.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Funções principais: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get_instituicoes</a:t>
            </a:r>
            <a:r>
              <a:rPr lang="pt-PT" sz="2000" dirty="0"/>
              <a:t>() – obtém todas as instituições.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get_cursos</a:t>
            </a:r>
            <a:r>
              <a:rPr lang="pt-PT" sz="2000" dirty="0"/>
              <a:t>() – lista os cursos de cada instituição.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get_colocados</a:t>
            </a:r>
            <a:r>
              <a:rPr lang="pt-PT" sz="2000" dirty="0"/>
              <a:t>() – recolhe alunos colocados por curso.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append_to_csv</a:t>
            </a:r>
            <a:r>
              <a:rPr lang="pt-PT" sz="2000" dirty="0"/>
              <a:t>() e </a:t>
            </a:r>
            <a:r>
              <a:rPr lang="pt-PT" sz="2000" dirty="0" err="1"/>
              <a:t>save_to_csv</a:t>
            </a:r>
            <a:r>
              <a:rPr lang="pt-PT" sz="2000" dirty="0"/>
              <a:t>() – guardam resultados no ficheiro CSV.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 err="1"/>
              <a:t>main</a:t>
            </a:r>
            <a:r>
              <a:rPr lang="pt-PT" sz="2000" dirty="0"/>
              <a:t>() – controla todo o processo de extração e gravação dos dados.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59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Tratamento da Informação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 err="1"/>
              <a:t>get_instituicoes</a:t>
            </a:r>
            <a:r>
              <a:rPr lang="pt-PT" sz="2000" b="1" dirty="0"/>
              <a:t>():</a:t>
            </a:r>
            <a:endParaRPr lang="pt-PT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Faz um pedido GET à página de instituições.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Extrai &lt;</a:t>
            </a:r>
            <a:r>
              <a:rPr lang="pt-PT" sz="2000" dirty="0" err="1"/>
              <a:t>option</a:t>
            </a:r>
            <a:r>
              <a:rPr lang="pt-PT" sz="2000" dirty="0"/>
              <a:t>&gt; do HTML e usa expressões regulares para separar código e nome.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Lida com texto concatenado (ex.: “0101Instituto Politécnico de Viana do Castelo”).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 err="1"/>
              <a:t>get_cursos</a:t>
            </a:r>
            <a:r>
              <a:rPr lang="pt-PT" sz="2000" b="1" dirty="0"/>
              <a:t>():</a:t>
            </a:r>
            <a:endParaRPr lang="pt-PT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Envia POST com o código da instituição e recolhe os cursos.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Usa </a:t>
            </a:r>
            <a:r>
              <a:rPr lang="pt-PT" sz="2000" dirty="0" err="1"/>
              <a:t>BeautifulSoup</a:t>
            </a:r>
            <a:r>
              <a:rPr lang="pt-PT" sz="2000" dirty="0"/>
              <a:t> para extrair </a:t>
            </a:r>
            <a:r>
              <a:rPr lang="pt-PT" sz="2000" dirty="0" err="1"/>
              <a:t>value</a:t>
            </a:r>
            <a:r>
              <a:rPr lang="pt-PT" sz="2000" dirty="0"/>
              <a:t> e texto de cada curso.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Filtra entradas válidas (códigos numéricos ou alfanuméricos).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 err="1"/>
              <a:t>get_colocados</a:t>
            </a:r>
            <a:r>
              <a:rPr lang="pt-PT" sz="2000" b="1" dirty="0"/>
              <a:t>():</a:t>
            </a:r>
            <a:endParaRPr lang="pt-PT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Faz POST à página de resultados.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Analisa todas as tabelas e identifica linhas com 2 colunas (ID e nome).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Usa heurísticas (verifica se há parêntesis, números e letras) e elimina duplicados.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Os dados de cada página são transformados em dicionários e armazenados numa lista.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6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Tratamento da Informação </a:t>
            </a:r>
            <a:r>
              <a:rPr lang="pt-PT" sz="2000" b="1" dirty="0" err="1"/>
              <a:t>get_instituicoes</a:t>
            </a:r>
            <a:r>
              <a:rPr lang="pt-PT" sz="2000" b="1" dirty="0"/>
              <a:t>()</a:t>
            </a:r>
            <a:endParaRPr lang="pt-PT" sz="2000" dirty="0"/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25AD9A-496A-B371-C36A-3E9EFF9420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58462"/>
            <a:ext cx="5029200" cy="457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2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Tratamento da Informação </a:t>
            </a:r>
            <a:r>
              <a:rPr lang="pt-PT" sz="2000" b="1" dirty="0" err="1"/>
              <a:t>get_cursos</a:t>
            </a:r>
            <a:r>
              <a:rPr lang="pt-PT" sz="2000" b="1" dirty="0"/>
              <a:t>()</a:t>
            </a:r>
            <a:endParaRPr lang="pt-PT" sz="2000" dirty="0"/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043FF16-00B8-488F-D265-87D9D6D8A8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64680"/>
            <a:ext cx="5006122" cy="48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6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Tratamento da Informação </a:t>
            </a:r>
            <a:r>
              <a:rPr lang="pt-PT" sz="2000" b="1" dirty="0" err="1"/>
              <a:t>get_colocados</a:t>
            </a:r>
            <a:r>
              <a:rPr lang="pt-PT" sz="2000" b="1" dirty="0"/>
              <a:t>()</a:t>
            </a:r>
            <a:endParaRPr lang="pt-PT" sz="2000" dirty="0"/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6629B7-E9E1-5D8A-51BF-D10A416A09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747" y="1243387"/>
            <a:ext cx="6127147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7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Geração do ficheiro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csv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dirty="0" err="1"/>
              <a:t>append_to_csv</a:t>
            </a:r>
            <a:r>
              <a:rPr lang="pt-PT" sz="2000" dirty="0"/>
              <a:t>() cria um </a:t>
            </a:r>
            <a:r>
              <a:rPr lang="pt-PT" sz="2000" dirty="0" err="1"/>
              <a:t>DataFrame</a:t>
            </a:r>
            <a:r>
              <a:rPr lang="pt-PT" sz="2000" dirty="0"/>
              <a:t> (pandas) com as colunas: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Universidade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Curso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Nº Identificação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Nome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Cada conjunto de alunos recolhido é </a:t>
            </a:r>
            <a:r>
              <a:rPr lang="pt-PT" sz="2000" b="1" dirty="0"/>
              <a:t>adicionado ao ficheiro </a:t>
            </a:r>
            <a:r>
              <a:rPr lang="pt-PT" sz="2000" b="1" dirty="0" err="1"/>
              <a:t>AlunosColocados.csv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Se o ficheiro ainda não existir, é criado automaticamente.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formato utilizado é </a:t>
            </a:r>
            <a:r>
              <a:rPr lang="pt-PT" sz="2000" b="1" dirty="0"/>
              <a:t>UTF-8 com BOM</a:t>
            </a:r>
            <a:r>
              <a:rPr lang="pt-PT" sz="2000" dirty="0"/>
              <a:t> (utf-8-sig) para garantir compatibilidade com Excel.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No final da execução, o ficheiro contém todos os alunos recolhidos de todas as instituições e cursos processados.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7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Geração do ficheiro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csv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0EDB93-16F6-0121-2427-96F50CDEA1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44" y="1236889"/>
            <a:ext cx="484411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48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Resultados Obtidos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script percorre todas as universidades e politécnicos definidos, recolhendo milhares de registos.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Cada linha do ficheiro CSV contém: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Nome da instituição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Nome do curso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Identificação do aluno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Nome completo do aluno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terminal apresenta mensagens de progresso: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Instituição atual, curso atual, número de colocados encontrados.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Total de alunos processados.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48C6E2-3E62-C1FF-2DEB-C611BD79BC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324650"/>
            <a:ext cx="7772400" cy="188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5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trabalho permitiu </a:t>
            </a:r>
            <a:r>
              <a:rPr lang="pt-PT" sz="2000" b="1" dirty="0"/>
              <a:t>automatizar a recolha de dados reais</a:t>
            </a:r>
            <a:r>
              <a:rPr lang="pt-PT" sz="2000" dirty="0"/>
              <a:t> de colocações no ensino superior.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Demonstrou a utilidade das bibliotecas </a:t>
            </a:r>
            <a:r>
              <a:rPr lang="pt-PT" sz="2000" b="1" dirty="0" err="1"/>
              <a:t>requests</a:t>
            </a:r>
            <a:r>
              <a:rPr lang="pt-PT" sz="2000" dirty="0"/>
              <a:t> e </a:t>
            </a:r>
            <a:r>
              <a:rPr lang="pt-PT" sz="2000" b="1" dirty="0" err="1"/>
              <a:t>BeautifulSoup</a:t>
            </a:r>
            <a:r>
              <a:rPr lang="pt-PT" sz="2000" dirty="0"/>
              <a:t> na extração de informação estruturada da web.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uso de </a:t>
            </a:r>
            <a:r>
              <a:rPr lang="pt-PT" sz="2000" b="1" dirty="0"/>
              <a:t>pandas</a:t>
            </a:r>
            <a:r>
              <a:rPr lang="pt-PT" sz="2000" dirty="0"/>
              <a:t> facilitou a manipulação e gravação dos dados num formato padrão (CSV).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Foi possível compreender: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A importância da limpeza e filtragem dos dados.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As dificuldades de lidar com HTML inconsistente.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PT" sz="2000" dirty="0"/>
              <a:t>A necessidade de respeitar limites e ética no </a:t>
            </a:r>
            <a:r>
              <a:rPr lang="pt-PT" sz="2000" dirty="0" err="1"/>
              <a:t>scraping</a:t>
            </a:r>
            <a:r>
              <a:rPr lang="pt-PT" sz="2000" dirty="0"/>
              <a:t> (intervalos, legalidade).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resultado final — </a:t>
            </a:r>
            <a:r>
              <a:rPr lang="pt-PT" sz="2000" dirty="0" err="1"/>
              <a:t>AlunosColocados.csv</a:t>
            </a:r>
            <a:r>
              <a:rPr lang="pt-PT" sz="2000" dirty="0"/>
              <a:t> — é uma base de dados consolidada e reutilizável para análise de colocações.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0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7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DGES – Direção-Geral do Ensino Superior: </a:t>
            </a:r>
            <a:r>
              <a:rPr lang="pt-PT" sz="1600" dirty="0">
                <a:hlinkClick r:id="rId3"/>
              </a:rPr>
              <a:t>https://www.dges.gov.pt</a:t>
            </a:r>
            <a:endParaRPr lang="pt-PT" sz="1600" dirty="0"/>
          </a:p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Documentação oficial </a:t>
            </a:r>
            <a:r>
              <a:rPr lang="pt-PT" sz="1600" dirty="0" err="1"/>
              <a:t>Python</a:t>
            </a:r>
            <a:r>
              <a:rPr lang="pt-PT" sz="1600" dirty="0"/>
              <a:t>: </a:t>
            </a:r>
            <a:r>
              <a:rPr lang="pt-PT" sz="1600" dirty="0" err="1">
                <a:hlinkClick r:id="rId4"/>
              </a:rPr>
              <a:t>https</a:t>
            </a:r>
            <a:r>
              <a:rPr lang="pt-PT" sz="1600" dirty="0">
                <a:hlinkClick r:id="rId4"/>
              </a:rPr>
              <a:t>://</a:t>
            </a:r>
            <a:r>
              <a:rPr lang="pt-PT" sz="1600" dirty="0" err="1">
                <a:hlinkClick r:id="rId4"/>
              </a:rPr>
              <a:t>docs.python.org</a:t>
            </a:r>
            <a:r>
              <a:rPr lang="pt-PT" sz="1600" dirty="0">
                <a:hlinkClick r:id="rId4"/>
              </a:rPr>
              <a:t>/3/</a:t>
            </a:r>
            <a:endParaRPr lang="pt-PT" sz="1600" dirty="0"/>
          </a:p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Biblioteca </a:t>
            </a:r>
            <a:r>
              <a:rPr lang="pt-PT" sz="1600" dirty="0" err="1"/>
              <a:t>Requests</a:t>
            </a:r>
            <a:r>
              <a:rPr lang="pt-PT" sz="1600" dirty="0"/>
              <a:t>: </a:t>
            </a:r>
            <a:r>
              <a:rPr lang="pt-PT" sz="1600" dirty="0">
                <a:hlinkClick r:id="rId5"/>
              </a:rPr>
              <a:t>https://requests.readthedocs.io</a:t>
            </a:r>
            <a:endParaRPr lang="pt-PT" sz="1600" dirty="0"/>
          </a:p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Biblioteca </a:t>
            </a:r>
            <a:r>
              <a:rPr lang="pt-PT" sz="1600" dirty="0" err="1"/>
              <a:t>BeautifulSoup</a:t>
            </a:r>
            <a:r>
              <a:rPr lang="pt-PT" sz="1600" dirty="0"/>
              <a:t>: </a:t>
            </a:r>
            <a:r>
              <a:rPr lang="pt-PT" sz="1600" dirty="0">
                <a:hlinkClick r:id="rId6"/>
              </a:rPr>
              <a:t>https://www.crummy.com/software/BeautifulSoup/</a:t>
            </a:r>
            <a:endParaRPr lang="pt-PT" sz="1600" dirty="0"/>
          </a:p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Biblioteca Pandas: </a:t>
            </a:r>
            <a:r>
              <a:rPr lang="pt-PT" sz="1600" dirty="0">
                <a:hlinkClick r:id="rId7"/>
              </a:rPr>
              <a:t>https://pandas.pydata.org</a:t>
            </a:r>
            <a:endParaRPr lang="pt-PT" sz="1600" dirty="0"/>
          </a:p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Tutoriais e exemplos de </a:t>
            </a:r>
            <a:r>
              <a:rPr lang="pt-PT" sz="1600" dirty="0" err="1"/>
              <a:t>scraping</a:t>
            </a:r>
            <a:r>
              <a:rPr lang="pt-PT" sz="1600" dirty="0"/>
              <a:t> ético: </a:t>
            </a:r>
            <a:r>
              <a:rPr lang="pt-PT" sz="1600" dirty="0">
                <a:hlinkClick r:id="rId8"/>
              </a:rPr>
              <a:t>https://realpython.com</a:t>
            </a: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180FD03-E4A8-7DA1-22A9-97D11576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76" y="9186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6- Exploração da Extração de Informação na 			DGS(Colocações Ensino Superior)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71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4713</TotalTime>
  <Words>1854</Words>
  <Application>Microsoft Macintosh PowerPoint</Application>
  <PresentationFormat>Apresentação no Ecrã (4:3)</PresentationFormat>
  <Paragraphs>188</Paragraphs>
  <Slides>15</Slides>
  <Notes>14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Hélder Silva</cp:lastModifiedBy>
  <cp:revision>233</cp:revision>
  <cp:lastPrinted>2020-09-27T18:04:57Z</cp:lastPrinted>
  <dcterms:created xsi:type="dcterms:W3CDTF">2011-05-31T09:21:51Z</dcterms:created>
  <dcterms:modified xsi:type="dcterms:W3CDTF">2025-10-06T13:32:57Z</dcterms:modified>
</cp:coreProperties>
</file>