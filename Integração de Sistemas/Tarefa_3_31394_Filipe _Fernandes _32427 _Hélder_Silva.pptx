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9" r:id="rId2"/>
    <p:sldId id="258" r:id="rId3"/>
    <p:sldId id="352" r:id="rId4"/>
    <p:sldId id="353" r:id="rId5"/>
    <p:sldId id="354" r:id="rId6"/>
    <p:sldId id="355" r:id="rId7"/>
    <p:sldId id="356" r:id="rId8"/>
    <p:sldId id="357" r:id="rId9"/>
    <p:sldId id="359" r:id="rId10"/>
    <p:sldId id="360" r:id="rId11"/>
    <p:sldId id="361" r:id="rId12"/>
    <p:sldId id="362" r:id="rId13"/>
    <p:sldId id="363" r:id="rId14"/>
    <p:sldId id="364" r:id="rId15"/>
    <p:sldId id="358" r:id="rId16"/>
    <p:sldId id="351" r:id="rId17"/>
    <p:sldId id="260" r:id="rId1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9"/>
    <p:restoredTop sz="89660" autoAdjust="0"/>
  </p:normalViewPr>
  <p:slideViewPr>
    <p:cSldViewPr>
      <p:cViewPr varScale="1">
        <p:scale>
          <a:sx n="99" d="100"/>
          <a:sy n="99" d="100"/>
        </p:scale>
        <p:origin x="1878" y="9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29/09/2025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29/09/2025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35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56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108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81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905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526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A0D99-6844-0EEA-FFB2-01557D03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8AA05AC-74CE-C57A-94E9-28BE86295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1505BA4-DE5F-C4E4-9667-A859FD9E4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0648960-F518-E9AD-E670-9AC060C8C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69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2DB0D-5C16-5DF7-71B6-78143BEB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1B8F9F9-9DE6-C789-BB7D-7C160D35C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76910D1-6EA4-8B94-BDF6-F99669B6C9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9F721A7-CF2E-DCDE-2656-3D0164452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791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B5FE-E14A-C34E-D3ED-54BB3E14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3C925E8-AFD0-4178-7C4E-62E09250C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5D756B-6F01-AB6F-7970-FF295925FD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9BDC5FD-7419-E135-EE32-5563F78CC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07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043B-1F4F-E22E-8106-B1E1F985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D227DD0-C446-B621-AEF2-0950AAEFA7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1C4FF3F-A5F8-0E7D-0D12-EFE2D96F71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4806CED-AFE3-B77A-A1AA-34FB8366D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871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F830-8253-C0E6-2F19-D147C02D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37DD5FA-9AED-7AE3-DCBA-E43D964D1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26A54FC-18CE-F248-2022-BC261B5291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9A5F31B-5919-802F-AF99-316D84E58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568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BE66F-34BE-5902-61DA-018CF808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2EE095A-1379-5093-432F-1B51222CA6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31BFBFC-0B11-2880-45E4-0BE6F1C42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A2C9BBA-379A-8D7B-1BEC-EC820110AA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484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90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152596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realpython.com/python-web-scraping-practical-introductio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realpython.com/python-web-scraping-practical-introduc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hyperlink" Target="https://realpython.com/python-web-scraping-practical-introduct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hyperlink" Target="https://realpython.com/python-web-scraping-practical-introduct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hyperlink" Target="https://realpython.com/python-web-scraping-practical-introduc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scrapingbee.com/blog/web-scraping-101-with-pyth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hyperlink" Target="https://www.scrapingbee.com/blog/web-scraping-101-with-pyth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hyperlink" Target="https://www.scrapingbee.com/blog/web-scraping-101-with-pytho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hyperlink" Target="https://www.scrapingbee.com/blog/web-scraping-101-with-pytho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hyperlink" Target="https://www.scrapingbee.com/blog/web-scraping-101-with-pytho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hyperlink" Target="https://www.scrapingbee.com/blog/web-scraping-101-with-pyth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realpython.com/python-web-scraping-practical-introduction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hyperlink" Target="https://www.scrapingbee.com/blog/web-scraping-101-with-pytho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92923" y="3760062"/>
            <a:ext cx="5143500" cy="404742"/>
          </a:xfrm>
        </p:spPr>
        <p:txBody>
          <a:bodyPr>
            <a:noAutofit/>
          </a:bodyPr>
          <a:lstStyle/>
          <a:p>
            <a:r>
              <a:rPr lang="pt-PT" sz="2500" b="1" dirty="0">
                <a:solidFill>
                  <a:schemeClr val="bg1"/>
                </a:solidFill>
              </a:rPr>
              <a:t>Tarefa 3- PESQUISA 2- Realizar um estudo de pesquisa de exemplos de código em </a:t>
            </a:r>
            <a:r>
              <a:rPr lang="pt-PT" sz="2500" b="1" dirty="0" err="1">
                <a:solidFill>
                  <a:schemeClr val="bg1"/>
                </a:solidFill>
              </a:rPr>
              <a:t>python</a:t>
            </a:r>
            <a:endParaRPr lang="pt-PT" sz="2500" b="1" dirty="0">
              <a:solidFill>
                <a:schemeClr val="bg1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Arial" pitchFamily="34" charset="0"/>
                <a:cs typeface="Arial" pitchFamily="34" charset="0"/>
              </a:rPr>
              <a:t>1.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Objetivos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2.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Introdução ao Web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Scraping</a:t>
            </a:r>
            <a:endParaRPr lang="pt-PT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3.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Exemplo 1: Usando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urllib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+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String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Methods</a:t>
            </a:r>
            <a:endParaRPr lang="pt-PT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4. Exemplo 2: Usando Expressões Regulares (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regex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5. Exemplo 3: Usando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Beautiful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Soup</a:t>
            </a:r>
            <a:endParaRPr lang="pt-PT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6. Exemplo 4: Usando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MechanicalSoup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(interagir com formulários / conteúdos dinâmicos)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7. Exemplo 4: Guardar informação em base de dados relacional 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8. Conclusão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9.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Bibliografia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Referências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Web </a:t>
            </a: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B421312E-9868-114E-A3C9-FCFB7334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95" y="0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2- PESQUISA 1- Realizar um estudo de      			pesquisa de extensões para browsers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Realizar um estudo de pesquisa sobre </a:t>
            </a:r>
            <a:r>
              <a:rPr lang="pt-PT" sz="2000" b="1" dirty="0"/>
              <a:t>exemplos de código em </a:t>
            </a:r>
            <a:r>
              <a:rPr lang="pt-PT" sz="2000" b="1" dirty="0" err="1"/>
              <a:t>Python</a:t>
            </a:r>
            <a:r>
              <a:rPr lang="pt-PT" sz="2000" b="1" dirty="0"/>
              <a:t> aplicados a Web </a:t>
            </a:r>
            <a:r>
              <a:rPr lang="pt-PT" sz="2000" b="1" dirty="0" err="1"/>
              <a:t>Scraping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Explorar diferentes abordagens, desde soluções simples com bibliotecas padrão até ferramentas mais avançadas.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Compreender como utilizar </a:t>
            </a:r>
            <a:r>
              <a:rPr lang="pt-PT" sz="2000" b="1" dirty="0" err="1"/>
              <a:t>urllib</a:t>
            </a:r>
            <a:r>
              <a:rPr lang="pt-PT" sz="2000" b="1" dirty="0"/>
              <a:t>, </a:t>
            </a:r>
            <a:r>
              <a:rPr lang="pt-PT" sz="2000" b="1" dirty="0" err="1"/>
              <a:t>regex</a:t>
            </a:r>
            <a:r>
              <a:rPr lang="pt-PT" sz="2000" b="1" dirty="0"/>
              <a:t>, </a:t>
            </a:r>
            <a:r>
              <a:rPr lang="pt-PT" sz="2000" b="1" dirty="0" err="1"/>
              <a:t>Beautiful</a:t>
            </a:r>
            <a:r>
              <a:rPr lang="pt-PT" sz="2000" b="1" dirty="0"/>
              <a:t> </a:t>
            </a:r>
            <a:r>
              <a:rPr lang="pt-PT" sz="2000" b="1" dirty="0" err="1"/>
              <a:t>Soup</a:t>
            </a:r>
            <a:r>
              <a:rPr lang="pt-PT" sz="2000" b="1" dirty="0"/>
              <a:t> e </a:t>
            </a:r>
            <a:r>
              <a:rPr lang="pt-PT" sz="2000" b="1" dirty="0" err="1"/>
              <a:t>MechanicalSoup</a:t>
            </a:r>
            <a:r>
              <a:rPr lang="pt-PT" sz="2000" dirty="0"/>
              <a:t> para extrair dados da web.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6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Introdução ao Web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Scraping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Web </a:t>
            </a:r>
            <a:r>
              <a:rPr lang="pt-PT" sz="2000" dirty="0" err="1"/>
              <a:t>scraping</a:t>
            </a:r>
            <a:r>
              <a:rPr lang="pt-PT" sz="2000" dirty="0"/>
              <a:t> permite recolher e analisar dados de websites automaticamente.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Python</a:t>
            </a:r>
            <a:r>
              <a:rPr lang="pt-PT" sz="2000" dirty="0"/>
              <a:t> é especialmente útil para isto pelas suas bibliotecas como </a:t>
            </a:r>
            <a:r>
              <a:rPr lang="pt-PT" sz="2000" dirty="0" err="1"/>
              <a:t>urllib</a:t>
            </a:r>
            <a:r>
              <a:rPr lang="pt-PT" sz="2000" dirty="0"/>
              <a:t>, </a:t>
            </a:r>
            <a:r>
              <a:rPr lang="pt-PT" sz="2000" dirty="0" err="1"/>
              <a:t>Beautiful</a:t>
            </a:r>
            <a:r>
              <a:rPr lang="pt-PT" sz="2000" dirty="0"/>
              <a:t> </a:t>
            </a:r>
            <a:r>
              <a:rPr lang="pt-PT" sz="2000" dirty="0" err="1"/>
              <a:t>Soup</a:t>
            </a:r>
            <a:r>
              <a:rPr lang="pt-PT" sz="2000" dirty="0"/>
              <a:t>, </a:t>
            </a:r>
            <a:r>
              <a:rPr lang="pt-PT" sz="2000" dirty="0" err="1"/>
              <a:t>MechanicalSoup</a:t>
            </a:r>
            <a:r>
              <a:rPr lang="pt-PT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Antes de começar, é importante verificar os </a:t>
            </a:r>
            <a:r>
              <a:rPr lang="pt-PT" sz="2000" b="1" dirty="0"/>
              <a:t>Termos de Uso</a:t>
            </a:r>
            <a:r>
              <a:rPr lang="pt-PT" sz="2000" dirty="0"/>
              <a:t> do website para evitar violações legais.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19BBD3-B08F-BE16-DA61-76F663E74A45}"/>
              </a:ext>
            </a:extLst>
          </p:cNvPr>
          <p:cNvSpPr txBox="1"/>
          <p:nvPr/>
        </p:nvSpPr>
        <p:spPr>
          <a:xfrm>
            <a:off x="106457" y="6113515"/>
            <a:ext cx="5726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 err="1">
                <a:hlinkClick r:id="rId7"/>
              </a:rPr>
              <a:t>https</a:t>
            </a:r>
            <a:r>
              <a:rPr lang="pt-PT" sz="1400" dirty="0">
                <a:hlinkClick r:id="rId7"/>
              </a:rPr>
              <a:t>://</a:t>
            </a:r>
            <a:r>
              <a:rPr lang="pt-PT" sz="1400" dirty="0" err="1">
                <a:hlinkClick r:id="rId7"/>
              </a:rPr>
              <a:t>realpython.com</a:t>
            </a:r>
            <a:r>
              <a:rPr lang="pt-PT" sz="1400" dirty="0">
                <a:hlinkClick r:id="rId7"/>
              </a:rPr>
              <a:t>/</a:t>
            </a:r>
            <a:r>
              <a:rPr lang="pt-PT" sz="1400" dirty="0" err="1">
                <a:hlinkClick r:id="rId7"/>
              </a:rPr>
              <a:t>python</a:t>
            </a:r>
            <a:r>
              <a:rPr lang="pt-PT" sz="1400" dirty="0">
                <a:hlinkClick r:id="rId7"/>
              </a:rPr>
              <a:t>-web-</a:t>
            </a:r>
            <a:r>
              <a:rPr lang="pt-PT" sz="1400" dirty="0" err="1">
                <a:hlinkClick r:id="rId7"/>
              </a:rPr>
              <a:t>scraping</a:t>
            </a:r>
            <a:r>
              <a:rPr lang="pt-PT" sz="1400" dirty="0">
                <a:hlinkClick r:id="rId7"/>
              </a:rPr>
              <a:t>-</a:t>
            </a:r>
            <a:r>
              <a:rPr lang="pt-PT" sz="1400" dirty="0" err="1">
                <a:hlinkClick r:id="rId7"/>
              </a:rPr>
              <a:t>practical-introduction</a:t>
            </a:r>
            <a:r>
              <a:rPr lang="pt-PT" sz="1400" dirty="0">
                <a:hlinkClick r:id="rId7"/>
              </a:rPr>
              <a:t>/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292119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1: Usando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urllib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+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String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Methods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19BBD3-B08F-BE16-DA61-76F663E74A45}"/>
              </a:ext>
            </a:extLst>
          </p:cNvPr>
          <p:cNvSpPr txBox="1"/>
          <p:nvPr/>
        </p:nvSpPr>
        <p:spPr>
          <a:xfrm>
            <a:off x="106457" y="6113515"/>
            <a:ext cx="5726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 err="1">
                <a:hlinkClick r:id="rId7"/>
              </a:rPr>
              <a:t>https</a:t>
            </a:r>
            <a:r>
              <a:rPr lang="pt-PT" sz="1400" dirty="0">
                <a:hlinkClick r:id="rId7"/>
              </a:rPr>
              <a:t>://</a:t>
            </a:r>
            <a:r>
              <a:rPr lang="pt-PT" sz="1400" dirty="0" err="1">
                <a:hlinkClick r:id="rId7"/>
              </a:rPr>
              <a:t>realpython.com</a:t>
            </a:r>
            <a:r>
              <a:rPr lang="pt-PT" sz="1400" dirty="0">
                <a:hlinkClick r:id="rId7"/>
              </a:rPr>
              <a:t>/</a:t>
            </a:r>
            <a:r>
              <a:rPr lang="pt-PT" sz="1400" dirty="0" err="1">
                <a:hlinkClick r:id="rId7"/>
              </a:rPr>
              <a:t>python</a:t>
            </a:r>
            <a:r>
              <a:rPr lang="pt-PT" sz="1400" dirty="0">
                <a:hlinkClick r:id="rId7"/>
              </a:rPr>
              <a:t>-web-</a:t>
            </a:r>
            <a:r>
              <a:rPr lang="pt-PT" sz="1400" dirty="0" err="1">
                <a:hlinkClick r:id="rId7"/>
              </a:rPr>
              <a:t>scraping</a:t>
            </a:r>
            <a:r>
              <a:rPr lang="pt-PT" sz="1400" dirty="0">
                <a:hlinkClick r:id="rId7"/>
              </a:rPr>
              <a:t>-</a:t>
            </a:r>
            <a:r>
              <a:rPr lang="pt-PT" sz="1400" dirty="0" err="1">
                <a:hlinkClick r:id="rId7"/>
              </a:rPr>
              <a:t>practical-introduction</a:t>
            </a:r>
            <a:r>
              <a:rPr lang="pt-PT" sz="1400" dirty="0">
                <a:hlinkClick r:id="rId7"/>
              </a:rPr>
              <a:t>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9B136170-B80E-1D11-BFD6-02BF34CB2FC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Usar </a:t>
            </a:r>
            <a:r>
              <a:rPr lang="pt-PT" dirty="0" err="1"/>
              <a:t>urllib.request.urlopen</a:t>
            </a:r>
            <a:r>
              <a:rPr lang="pt-PT" dirty="0"/>
              <a:t>() para obter o HTML de uma página.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Decodificar o conteúdo (</a:t>
            </a:r>
            <a:r>
              <a:rPr lang="pt-PT" dirty="0" err="1"/>
              <a:t>ex</a:t>
            </a:r>
            <a:r>
              <a:rPr lang="pt-PT" dirty="0"/>
              <a:t>: .</a:t>
            </a:r>
            <a:r>
              <a:rPr lang="pt-PT" dirty="0" err="1"/>
              <a:t>read</a:t>
            </a:r>
            <a:r>
              <a:rPr lang="pt-PT" dirty="0"/>
              <a:t>().</a:t>
            </a:r>
            <a:r>
              <a:rPr lang="pt-PT" dirty="0" err="1"/>
              <a:t>decode</a:t>
            </a:r>
            <a:r>
              <a:rPr lang="pt-PT" dirty="0"/>
              <a:t>("utf-8")).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Extrair partes específicas do HTML via métodos de </a:t>
            </a:r>
            <a:r>
              <a:rPr lang="pt-PT" dirty="0" err="1"/>
              <a:t>string</a:t>
            </a:r>
            <a:r>
              <a:rPr lang="pt-PT" dirty="0"/>
              <a:t>: .</a:t>
            </a:r>
            <a:r>
              <a:rPr lang="pt-PT" dirty="0" err="1"/>
              <a:t>find</a:t>
            </a:r>
            <a:r>
              <a:rPr lang="pt-PT" dirty="0"/>
              <a:t>(), </a:t>
            </a:r>
            <a:r>
              <a:rPr lang="pt-PT" dirty="0" err="1"/>
              <a:t>slices</a:t>
            </a:r>
            <a:r>
              <a:rPr lang="pt-PT" dirty="0"/>
              <a:t>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Vantagem: simples, sem dependências externas.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Desvantagem: pouco robusto se HTML for mal formatado, pouco adaptável a estruturas complexas.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0BCCDDF-1FBB-6172-096B-DF590750783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180" y="2813261"/>
            <a:ext cx="3263219" cy="333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5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2: Usando expressões regulares (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regex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)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19BBD3-B08F-BE16-DA61-76F663E74A45}"/>
              </a:ext>
            </a:extLst>
          </p:cNvPr>
          <p:cNvSpPr txBox="1"/>
          <p:nvPr/>
        </p:nvSpPr>
        <p:spPr>
          <a:xfrm>
            <a:off x="106457" y="6113515"/>
            <a:ext cx="5726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 err="1">
                <a:hlinkClick r:id="rId7"/>
              </a:rPr>
              <a:t>https</a:t>
            </a:r>
            <a:r>
              <a:rPr lang="pt-PT" sz="1400" dirty="0">
                <a:hlinkClick r:id="rId7"/>
              </a:rPr>
              <a:t>://</a:t>
            </a:r>
            <a:r>
              <a:rPr lang="pt-PT" sz="1400" dirty="0" err="1">
                <a:hlinkClick r:id="rId7"/>
              </a:rPr>
              <a:t>realpython.com</a:t>
            </a:r>
            <a:r>
              <a:rPr lang="pt-PT" sz="1400" dirty="0">
                <a:hlinkClick r:id="rId7"/>
              </a:rPr>
              <a:t>/</a:t>
            </a:r>
            <a:r>
              <a:rPr lang="pt-PT" sz="1400" dirty="0" err="1">
                <a:hlinkClick r:id="rId7"/>
              </a:rPr>
              <a:t>python</a:t>
            </a:r>
            <a:r>
              <a:rPr lang="pt-PT" sz="1400" dirty="0">
                <a:hlinkClick r:id="rId7"/>
              </a:rPr>
              <a:t>-web-</a:t>
            </a:r>
            <a:r>
              <a:rPr lang="pt-PT" sz="1400" dirty="0" err="1">
                <a:hlinkClick r:id="rId7"/>
              </a:rPr>
              <a:t>scraping</a:t>
            </a:r>
            <a:r>
              <a:rPr lang="pt-PT" sz="1400" dirty="0">
                <a:hlinkClick r:id="rId7"/>
              </a:rPr>
              <a:t>-</a:t>
            </a:r>
            <a:r>
              <a:rPr lang="pt-PT" sz="1400" dirty="0" err="1">
                <a:hlinkClick r:id="rId7"/>
              </a:rPr>
              <a:t>practical-introduction</a:t>
            </a:r>
            <a:r>
              <a:rPr lang="pt-PT" sz="1400" dirty="0">
                <a:hlinkClick r:id="rId7"/>
              </a:rPr>
              <a:t>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9B136170-B80E-1D11-BFD6-02BF34CB2FC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Importar módulo </a:t>
            </a:r>
            <a:r>
              <a:rPr lang="pt-PT" dirty="0" err="1"/>
              <a:t>re</a:t>
            </a:r>
            <a:r>
              <a:rPr lang="pt-P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Usar </a:t>
            </a:r>
            <a:r>
              <a:rPr lang="pt-PT" dirty="0" err="1"/>
              <a:t>re.search</a:t>
            </a:r>
            <a:r>
              <a:rPr lang="pt-PT" dirty="0"/>
              <a:t>() ou </a:t>
            </a:r>
            <a:r>
              <a:rPr lang="pt-PT" dirty="0" err="1"/>
              <a:t>re.findall</a:t>
            </a:r>
            <a:r>
              <a:rPr lang="pt-PT" dirty="0"/>
              <a:t>() com padrões para corresponder partes do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Exemplo: extrair título mesmo que o &lt;</a:t>
            </a:r>
            <a:r>
              <a:rPr lang="pt-PT" dirty="0" err="1"/>
              <a:t>title</a:t>
            </a:r>
            <a:r>
              <a:rPr lang="pt-PT" dirty="0"/>
              <a:t>&gt; tenha inconsistências (espaços, letras maiúsculas,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Permite lidar com HTML que não é previsível.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57370D4-132F-07F0-415B-339734C67DC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613" y="2527046"/>
            <a:ext cx="2553888" cy="327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4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3: Usando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Beautiful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Soup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19BBD3-B08F-BE16-DA61-76F663E74A45}"/>
              </a:ext>
            </a:extLst>
          </p:cNvPr>
          <p:cNvSpPr txBox="1"/>
          <p:nvPr/>
        </p:nvSpPr>
        <p:spPr>
          <a:xfrm>
            <a:off x="106457" y="6113515"/>
            <a:ext cx="5726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 err="1">
                <a:hlinkClick r:id="rId7"/>
              </a:rPr>
              <a:t>https</a:t>
            </a:r>
            <a:r>
              <a:rPr lang="pt-PT" sz="1400" dirty="0">
                <a:hlinkClick r:id="rId7"/>
              </a:rPr>
              <a:t>://</a:t>
            </a:r>
            <a:r>
              <a:rPr lang="pt-PT" sz="1400" dirty="0" err="1">
                <a:hlinkClick r:id="rId7"/>
              </a:rPr>
              <a:t>realpython.com</a:t>
            </a:r>
            <a:r>
              <a:rPr lang="pt-PT" sz="1400" dirty="0">
                <a:hlinkClick r:id="rId7"/>
              </a:rPr>
              <a:t>/</a:t>
            </a:r>
            <a:r>
              <a:rPr lang="pt-PT" sz="1400" dirty="0" err="1">
                <a:hlinkClick r:id="rId7"/>
              </a:rPr>
              <a:t>python</a:t>
            </a:r>
            <a:r>
              <a:rPr lang="pt-PT" sz="1400" dirty="0">
                <a:hlinkClick r:id="rId7"/>
              </a:rPr>
              <a:t>-web-</a:t>
            </a:r>
            <a:r>
              <a:rPr lang="pt-PT" sz="1400" dirty="0" err="1">
                <a:hlinkClick r:id="rId7"/>
              </a:rPr>
              <a:t>scraping</a:t>
            </a:r>
            <a:r>
              <a:rPr lang="pt-PT" sz="1400" dirty="0">
                <a:hlinkClick r:id="rId7"/>
              </a:rPr>
              <a:t>-</a:t>
            </a:r>
            <a:r>
              <a:rPr lang="pt-PT" sz="1400" dirty="0" err="1">
                <a:hlinkClick r:id="rId7"/>
              </a:rPr>
              <a:t>practical-introduction</a:t>
            </a:r>
            <a:r>
              <a:rPr lang="pt-PT" sz="1400" dirty="0">
                <a:hlinkClick r:id="rId7"/>
              </a:rPr>
              <a:t>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9B136170-B80E-1D11-BFD6-02BF34CB2FC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Instalar beautifulsoup4.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Criar objeto </a:t>
            </a:r>
            <a:r>
              <a:rPr lang="pt-PT" dirty="0" err="1"/>
              <a:t>BeautifulSoup</a:t>
            </a:r>
            <a:r>
              <a:rPr lang="pt-PT" dirty="0"/>
              <a:t> com HTML e </a:t>
            </a:r>
            <a:r>
              <a:rPr lang="pt-PT" dirty="0" err="1"/>
              <a:t>parser</a:t>
            </a:r>
            <a:r>
              <a:rPr lang="pt-PT" dirty="0"/>
              <a:t> ("</a:t>
            </a:r>
            <a:r>
              <a:rPr lang="pt-PT" dirty="0" err="1"/>
              <a:t>html.parser</a:t>
            </a:r>
            <a:r>
              <a:rPr lang="pt-PT" dirty="0"/>
              <a:t>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Métodos como </a:t>
            </a:r>
            <a:r>
              <a:rPr lang="pt-PT" dirty="0" err="1"/>
              <a:t>get_text</a:t>
            </a:r>
            <a:r>
              <a:rPr lang="pt-PT" dirty="0"/>
              <a:t>(), </a:t>
            </a:r>
            <a:r>
              <a:rPr lang="pt-PT" dirty="0" err="1"/>
              <a:t>find_all</a:t>
            </a:r>
            <a:r>
              <a:rPr lang="pt-PT" dirty="0"/>
              <a:t>(), .</a:t>
            </a:r>
            <a:r>
              <a:rPr lang="pt-PT" dirty="0" err="1"/>
              <a:t>title</a:t>
            </a:r>
            <a:r>
              <a:rPr lang="pt-PT" dirty="0"/>
              <a:t>, .</a:t>
            </a:r>
            <a:r>
              <a:rPr lang="pt-PT" dirty="0" err="1"/>
              <a:t>string</a:t>
            </a:r>
            <a:r>
              <a:rPr lang="pt-PT" dirty="0"/>
              <a:t> para navegar e extrair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Permite extrair </a:t>
            </a:r>
            <a:r>
              <a:rPr lang="pt-PT" dirty="0" err="1"/>
              <a:t>tags</a:t>
            </a:r>
            <a:r>
              <a:rPr lang="pt-PT" dirty="0"/>
              <a:t>, atributos, texto limpo, etc., de forma estruturada.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39CBF76-7B8B-28B0-EBD8-13214C3757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023" y="4239044"/>
            <a:ext cx="58039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4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4: Usando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MechanicalSoup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19BBD3-B08F-BE16-DA61-76F663E74A45}"/>
              </a:ext>
            </a:extLst>
          </p:cNvPr>
          <p:cNvSpPr txBox="1"/>
          <p:nvPr/>
        </p:nvSpPr>
        <p:spPr>
          <a:xfrm>
            <a:off x="106457" y="6113515"/>
            <a:ext cx="5726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 err="1">
                <a:hlinkClick r:id="rId7"/>
              </a:rPr>
              <a:t>https</a:t>
            </a:r>
            <a:r>
              <a:rPr lang="pt-PT" sz="1400" dirty="0">
                <a:hlinkClick r:id="rId7"/>
              </a:rPr>
              <a:t>://</a:t>
            </a:r>
            <a:r>
              <a:rPr lang="pt-PT" sz="1400" dirty="0" err="1">
                <a:hlinkClick r:id="rId7"/>
              </a:rPr>
              <a:t>realpython.com</a:t>
            </a:r>
            <a:r>
              <a:rPr lang="pt-PT" sz="1400" dirty="0">
                <a:hlinkClick r:id="rId7"/>
              </a:rPr>
              <a:t>/</a:t>
            </a:r>
            <a:r>
              <a:rPr lang="pt-PT" sz="1400" dirty="0" err="1">
                <a:hlinkClick r:id="rId7"/>
              </a:rPr>
              <a:t>python</a:t>
            </a:r>
            <a:r>
              <a:rPr lang="pt-PT" sz="1400" dirty="0">
                <a:hlinkClick r:id="rId7"/>
              </a:rPr>
              <a:t>-web-</a:t>
            </a:r>
            <a:r>
              <a:rPr lang="pt-PT" sz="1400" dirty="0" err="1">
                <a:hlinkClick r:id="rId7"/>
              </a:rPr>
              <a:t>scraping</a:t>
            </a:r>
            <a:r>
              <a:rPr lang="pt-PT" sz="1400" dirty="0">
                <a:hlinkClick r:id="rId7"/>
              </a:rPr>
              <a:t>-</a:t>
            </a:r>
            <a:r>
              <a:rPr lang="pt-PT" sz="1400" dirty="0" err="1">
                <a:hlinkClick r:id="rId7"/>
              </a:rPr>
              <a:t>practical-introduction</a:t>
            </a:r>
            <a:r>
              <a:rPr lang="pt-PT" sz="1400" dirty="0">
                <a:hlinkClick r:id="rId7"/>
              </a:rPr>
              <a:t>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9B136170-B80E-1D11-BFD6-02BF34CB2FC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Instalção</a:t>
            </a:r>
            <a:r>
              <a:rPr lang="pt-PT" dirty="0"/>
              <a:t> via </a:t>
            </a:r>
            <a:r>
              <a:rPr lang="pt-PT" dirty="0" err="1"/>
              <a:t>pip</a:t>
            </a:r>
            <a:r>
              <a:rPr lang="pt-PT" dirty="0"/>
              <a:t> </a:t>
            </a:r>
            <a:r>
              <a:rPr lang="pt-PT" dirty="0" err="1"/>
              <a:t>install</a:t>
            </a:r>
            <a:r>
              <a:rPr lang="pt-PT" dirty="0"/>
              <a:t> </a:t>
            </a:r>
            <a:r>
              <a:rPr lang="pt-PT" dirty="0" err="1"/>
              <a:t>mechanicalsoup</a:t>
            </a:r>
            <a:r>
              <a:rPr lang="pt-P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Criação de um browser </a:t>
            </a:r>
            <a:r>
              <a:rPr lang="pt-PT" dirty="0" err="1"/>
              <a:t>headless</a:t>
            </a:r>
            <a:r>
              <a:rPr lang="pt-PT" dirty="0"/>
              <a:t> com </a:t>
            </a:r>
            <a:r>
              <a:rPr lang="pt-PT" dirty="0" err="1"/>
              <a:t>MechanicalSoup</a:t>
            </a:r>
            <a:r>
              <a:rPr lang="pt-P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Submissão de formulários HTML (preencher inputs, </a:t>
            </a:r>
          </a:p>
          <a:p>
            <a:r>
              <a:rPr lang="pt-PT" dirty="0"/>
              <a:t>      enviar).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Scraping</a:t>
            </a:r>
            <a:r>
              <a:rPr lang="pt-PT" dirty="0"/>
              <a:t> periódico de páginas com conteúdos </a:t>
            </a:r>
          </a:p>
          <a:p>
            <a:r>
              <a:rPr lang="pt-PT" dirty="0"/>
              <a:t>      que se atualizam (Ex: página que simula lançamento </a:t>
            </a:r>
          </a:p>
          <a:p>
            <a:r>
              <a:rPr lang="pt-PT" dirty="0"/>
              <a:t>      de dado / “</a:t>
            </a:r>
            <a:r>
              <a:rPr lang="pt-PT" dirty="0" err="1"/>
              <a:t>dice</a:t>
            </a:r>
            <a:r>
              <a:rPr lang="pt-PT" dirty="0"/>
              <a:t>”).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53F0918-31DB-2533-DB72-DD7476B972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618" y="2008309"/>
            <a:ext cx="2957028" cy="425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7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CC0A1-E85D-1208-E83D-00B631E0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FF22875-574A-5D6D-2289-922B465F4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C4EA262-73BA-8775-A701-5D081A363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32116C1-81BB-3986-A3A4-85B5D0E6D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5: Guardar em base de dados relacional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1407792-9413-2A29-AC93-D7F70B2D0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E03C54E-8ABD-F027-F28F-CE7472680B4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0520E1-66C6-6650-2FEA-1BE4294BF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3948365-6B37-0D48-8FBC-F6C3881DF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97D1477-9E1B-63AA-FDC2-B982ED9CEE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094FA26-F39C-6013-E7E8-1F5C2A008DB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25FB3B-62D0-FCD4-BB03-8004175E63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7E2A223-D8A3-DC10-1613-30C80E6E7AC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CE8674AE-36B2-3C55-DA2E-DDE0803F3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317E00-0EE9-B1BF-5F89-FE3753C7BB4F}"/>
              </a:ext>
            </a:extLst>
          </p:cNvPr>
          <p:cNvSpPr txBox="1"/>
          <p:nvPr/>
        </p:nvSpPr>
        <p:spPr>
          <a:xfrm>
            <a:off x="106457" y="6113515"/>
            <a:ext cx="5693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>
                <a:hlinkClick r:id="rId7"/>
              </a:rPr>
              <a:t>https://www.scrapingbee.com/blog/web-scraping-101-with-python/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562DBE80-4F8C-7FE5-2066-E6701F8E0602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Quando trabalhamos com web </a:t>
            </a:r>
            <a:r>
              <a:rPr lang="pt-PT" dirty="0" err="1"/>
              <a:t>scraping</a:t>
            </a:r>
            <a:r>
              <a:rPr lang="pt-PT" dirty="0"/>
              <a:t> pode ser conveniente guardar a informação extraída diretamente numa tabela de uma base de dados. O seguinte exemplo utiliza as bibliotecas </a:t>
            </a:r>
            <a:r>
              <a:rPr lang="pt-PT" b="1" dirty="0" err="1"/>
              <a:t>Request</a:t>
            </a:r>
            <a:r>
              <a:rPr lang="pt-PT" b="1" dirty="0"/>
              <a:t> + </a:t>
            </a:r>
            <a:r>
              <a:rPr lang="pt-PT" b="1" dirty="0" err="1"/>
              <a:t>BeautifulSoup</a:t>
            </a:r>
            <a:r>
              <a:rPr lang="pt-PT" b="1" dirty="0"/>
              <a:t> </a:t>
            </a:r>
            <a:r>
              <a:rPr lang="pt-PT" dirty="0"/>
              <a:t>para web </a:t>
            </a:r>
            <a:r>
              <a:rPr lang="pt-PT" dirty="0" err="1"/>
              <a:t>scraping</a:t>
            </a:r>
            <a:r>
              <a:rPr lang="pt-PT" dirty="0"/>
              <a:t> e a biblioteca </a:t>
            </a:r>
            <a:r>
              <a:rPr lang="pt-PT" b="1" dirty="0"/>
              <a:t>Psycopg2</a:t>
            </a:r>
            <a:r>
              <a:rPr lang="pt-PT" dirty="0"/>
              <a:t> para conectar à base de dados criada no </a:t>
            </a:r>
            <a:r>
              <a:rPr lang="pt-PT" dirty="0" err="1"/>
              <a:t>PostgreSQL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94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1B92-DB5B-A78F-158E-F460EBCF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1">
            <a:extLst>
              <a:ext uri="{FF2B5EF4-FFF2-40B4-BE49-F238E27FC236}">
                <a16:creationId xmlns:a16="http://schemas.microsoft.com/office/drawing/2014/main" id="{71FA70A1-29A5-7678-F55C-A876410AB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3" name="Text Box 10">
            <a:extLst>
              <a:ext uri="{FF2B5EF4-FFF2-40B4-BE49-F238E27FC236}">
                <a16:creationId xmlns:a16="http://schemas.microsoft.com/office/drawing/2014/main" id="{54793D3B-116B-C4D8-8907-AA21C0EAF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7560973-F609-7D1D-E369-1E9662632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D596010-3F07-4594-D542-E4390153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5: Guardar em base de dados relacional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B4796C1-65E5-BDDB-46DE-3FB94ABA6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D807051-1330-5F6F-C619-99887F53CF1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EEB210-DA02-7006-CDFA-37945D3DA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9CB433A-56F0-4D20-0481-A9834493C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CEFDBBF-3215-F742-9E12-7141B28670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0A47222-2BA1-802D-165E-0742E07F010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182D28-4EA7-66DE-53B4-2FE192F80C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3DC6056-8477-872F-1573-3530DFF52AD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4AD6AD-6F7D-4A5A-F7DD-EE9C2F34CBD8}"/>
              </a:ext>
            </a:extLst>
          </p:cNvPr>
          <p:cNvSpPr txBox="1"/>
          <p:nvPr/>
        </p:nvSpPr>
        <p:spPr>
          <a:xfrm>
            <a:off x="106457" y="6113515"/>
            <a:ext cx="5693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>
                <a:hlinkClick r:id="rId7"/>
              </a:rPr>
              <a:t>https://www.scrapingbee.com/blog/web-scraping-101-with-python/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32DC9BAC-C5BF-771B-4190-A49C976EBF3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Inicialmente é necessário executar a instalação do </a:t>
            </a:r>
            <a:r>
              <a:rPr lang="pt-PT" dirty="0" err="1"/>
              <a:t>PostgreSQL</a:t>
            </a:r>
            <a:r>
              <a:rPr lang="pt-PT" dirty="0"/>
              <a:t>, configurar e criar a tabela na qual serão inseridas as informações extraídas.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r>
              <a:rPr lang="pt-PT" dirty="0"/>
              <a:t>Para instalar a biblioteca que permite conectar à base de dados o comando utilizado é </a:t>
            </a:r>
            <a:r>
              <a:rPr lang="pt-PT" b="1" i="1" dirty="0" err="1"/>
              <a:t>pip</a:t>
            </a:r>
            <a:r>
              <a:rPr lang="pt-PT" b="1" i="1" dirty="0"/>
              <a:t> </a:t>
            </a:r>
            <a:r>
              <a:rPr lang="pt-PT" b="1" i="1" dirty="0" err="1"/>
              <a:t>install</a:t>
            </a:r>
            <a:r>
              <a:rPr lang="pt-PT" b="1" i="1" dirty="0"/>
              <a:t> psycopg2</a:t>
            </a:r>
            <a:r>
              <a:rPr lang="pt-PT" dirty="0"/>
              <a:t>.</a:t>
            </a:r>
          </a:p>
          <a:p>
            <a:br>
              <a:rPr lang="pt-PT" dirty="0"/>
            </a:br>
            <a:endParaRPr lang="pt-PT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C9779C8-39D5-1D01-78C7-C28622DE75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057447"/>
            <a:ext cx="301984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28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1344-E3A8-0A59-D59A-DF8F7A8E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D9FAA4C-1180-C094-0196-9D91616FC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A9B2E37-A414-AA6F-03BC-D2E5D1F41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9150BEB-C409-46BD-4D0C-F3DE751B9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5: Guardar em base de dados relacional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8DA6620-7CB3-2C30-14B1-801D6A51E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BE3F4DA-46E2-BAF3-B661-D44DC5A83F1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primeiro passo após configurar </a:t>
            </a:r>
            <a:r>
              <a:rPr lang="pt-PT" sz="2000" dirty="0" err="1"/>
              <a:t>PostgreSQL</a:t>
            </a:r>
            <a:r>
              <a:rPr lang="pt-PT" sz="2000" dirty="0"/>
              <a:t> e instalar bibliotecas é definir a conexão à base de dados. Endereço do </a:t>
            </a:r>
            <a:r>
              <a:rPr lang="pt-PT" sz="2000" dirty="0" err="1"/>
              <a:t>host</a:t>
            </a:r>
            <a:r>
              <a:rPr lang="pt-PT" sz="2000" dirty="0"/>
              <a:t>, porta em que se encontra, nome do utilizador ,palavra passe e base de dados a usar.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65B461-AFC8-F6A3-EC98-FC5F672EB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617E334-B6B7-BBE9-D160-4F8F1EA73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87DDC9B-8539-1165-D2B7-76D239313E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5B1D9FA-2371-FAF6-E53F-A67DECBCA41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6F8543-D5F9-2200-4F23-D629468159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052548D-3B04-441D-5486-D2FA9C61AC8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C376816-FE69-A4B2-0B76-2AAF452DF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466C8D-7209-1825-9564-7AA82290DA49}"/>
              </a:ext>
            </a:extLst>
          </p:cNvPr>
          <p:cNvSpPr txBox="1"/>
          <p:nvPr/>
        </p:nvSpPr>
        <p:spPr>
          <a:xfrm>
            <a:off x="106457" y="6113515"/>
            <a:ext cx="5693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>
                <a:hlinkClick r:id="rId7"/>
              </a:rPr>
              <a:t>https://www.scrapingbee.com/blog/web-scraping-101-with-python/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D88934C5-A418-6C57-ED7B-9F230F274997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br>
              <a:rPr lang="pt-PT" dirty="0"/>
            </a:br>
            <a:endParaRPr lang="pt-PT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3E4AAB5-01EA-49CB-E35C-ED9058FEFB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424" y="2647533"/>
            <a:ext cx="3181794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3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9F8D-7BB2-240D-8046-218D416F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3048C79-BEE1-0591-98ED-77FEE4DEA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836D023-26A3-33E4-C6EC-C79FF8CD7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F546A0F-0204-6942-536A-BBCD2568D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5: Guardar em base de dados relacional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E5412B6-E086-1916-2E34-1C0584B1A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C0B07B89-BBCE-3907-1A7F-6F23D98CA6A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Em seguida é criado um cursor, que vai permitir executar comandos SQL na base de dados. Através da biblioteca </a:t>
            </a:r>
            <a:r>
              <a:rPr lang="pt-PT" sz="2000" b="1" dirty="0" err="1"/>
              <a:t>request</a:t>
            </a:r>
            <a:r>
              <a:rPr lang="pt-PT" sz="2000" dirty="0"/>
              <a:t> é feito um GET à pagina pretendida e com o </a:t>
            </a:r>
            <a:r>
              <a:rPr lang="pt-PT" sz="2000" b="1" dirty="0" err="1"/>
              <a:t>BeautifulSoup</a:t>
            </a:r>
            <a:r>
              <a:rPr lang="pt-PT" sz="2000" dirty="0"/>
              <a:t> é analisada a página e extraída a informação pretendida.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67F0426-7E06-32D0-E91A-4C9EF51B2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B8BE752-2B0C-CCD8-8E4C-DBBEAC9C8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65DF55C-B94B-B6B6-1B3A-E54087F8CB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C33DB47-1468-AB4F-6506-AF5CFF8EC35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17B299-0223-60E2-78E6-D8037EFD3D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A1BDAB1-70B0-E557-C9C0-E62477BD2E3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6E3B6DE6-7281-26ED-B373-E299BE718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B1694B-6749-BBA7-6E4A-0D4E36C9D41E}"/>
              </a:ext>
            </a:extLst>
          </p:cNvPr>
          <p:cNvSpPr txBox="1"/>
          <p:nvPr/>
        </p:nvSpPr>
        <p:spPr>
          <a:xfrm>
            <a:off x="106457" y="6113515"/>
            <a:ext cx="5693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>
                <a:hlinkClick r:id="rId7"/>
              </a:rPr>
              <a:t>https://www.scrapingbee.com/blog/web-scraping-101-with-python/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0791EB08-8495-AC77-C079-966E961C71E1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br>
              <a:rPr lang="pt-PT" dirty="0"/>
            </a:br>
            <a:endParaRPr lang="pt-PT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53748639-869A-376E-79B2-32EEE15A8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050" y="2125528"/>
            <a:ext cx="3943900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04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7D7E-F586-DCFB-B598-75D08E4F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E68CE77-D5B8-B30F-2285-44FEBC660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C8539FC-A467-4C64-AF5C-86949A01C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DF02944-8022-011A-6C07-11A1E7AF3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5: Guardar em base de dados relacional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EE227F3-4E5F-26F3-A7E2-D7567DF5D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B78AB7B-FD76-4F4C-3CDC-9768E2A9B5E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Após extrair a informação para a variável links, o programa itera sobre a mesma e através do cursor criado insere cada link na tabela criada inicialmente.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80BF1A-C6BC-28E4-0915-7831832A0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EA5218F-FD02-3CB3-53FA-0D13496FC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C8EFC6-46EF-8CC6-4726-140B085027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E2F6225-EB08-4A2F-3BE5-37359698121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6B6AA3-16A0-D759-9564-E1F9621A91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5EF37EC-BF02-5901-070C-CEE000A710A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A3C6C7A-6F50-9FE3-2201-363E26584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FCA2B7-DD96-A9C2-3ACE-17A654FEBF9B}"/>
              </a:ext>
            </a:extLst>
          </p:cNvPr>
          <p:cNvSpPr txBox="1"/>
          <p:nvPr/>
        </p:nvSpPr>
        <p:spPr>
          <a:xfrm>
            <a:off x="106457" y="6113515"/>
            <a:ext cx="5693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>
                <a:hlinkClick r:id="rId7"/>
              </a:rPr>
              <a:t>https://www.scrapingbee.com/blog/web-scraping-101-with-python/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70D3B03C-AB72-F5AF-F238-6594221A729A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br>
              <a:rPr lang="pt-PT" dirty="0"/>
            </a:br>
            <a:endParaRPr lang="pt-PT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8062590-0490-5034-55B2-615BFB0E37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3879" y="1405043"/>
            <a:ext cx="521090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7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FB15-E644-FDE3-964B-5603927B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1">
            <a:extLst>
              <a:ext uri="{FF2B5EF4-FFF2-40B4-BE49-F238E27FC236}">
                <a16:creationId xmlns:a16="http://schemas.microsoft.com/office/drawing/2014/main" id="{DD72B90F-09B9-D0C2-BD18-1FC0F769F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3" name="Text Box 10">
            <a:extLst>
              <a:ext uri="{FF2B5EF4-FFF2-40B4-BE49-F238E27FC236}">
                <a16:creationId xmlns:a16="http://schemas.microsoft.com/office/drawing/2014/main" id="{05A6D2BA-FD10-3D1D-6B86-42FD3CE02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254AEC0-6C09-5BDC-6F98-970C64F6E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611AC2-C6EA-749F-E260-1A6171642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5: Guardar em base de dados relacional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0AAEC70-9716-4FA7-B2DA-37B9A5A3A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D91A5DA-65EC-BED2-68E0-4025C4FF274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Por fim o programa confirma a inserção dos dados na base de dados e encerra o cursor e a conexão com a base de dados.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FAA972-9AD3-68A2-786E-9165532E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5948841-B6F6-4231-18B3-77A2DE51D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9B5DB4C-F70D-496C-C1DB-819B5F696E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A4E2A27-D18F-8879-D3E2-D88B462D739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159C75-C5FB-8626-42FF-31EF556625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DE4337A-BBBF-38C3-8134-7153D1CEF81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D1408A-7358-91BE-05ED-B8EC40D1575C}"/>
              </a:ext>
            </a:extLst>
          </p:cNvPr>
          <p:cNvSpPr txBox="1"/>
          <p:nvPr/>
        </p:nvSpPr>
        <p:spPr>
          <a:xfrm>
            <a:off x="106457" y="6113515"/>
            <a:ext cx="5693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Fonte: </a:t>
            </a:r>
            <a:r>
              <a:rPr lang="pt-PT" sz="1400" dirty="0">
                <a:hlinkClick r:id="rId7"/>
              </a:rPr>
              <a:t>https://www.scrapingbee.com/blog/web-scraping-101-with-python/</a:t>
            </a:r>
            <a:endParaRPr lang="pt-PT" sz="1400" dirty="0"/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4DAB8405-9B99-F95A-971B-6595D1ADFE14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br>
              <a:rPr lang="pt-PT" dirty="0"/>
            </a:br>
            <a:endParaRPr lang="pt-PT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53C7CCD-D063-26B6-A540-63E8029719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7813" y="2230781"/>
            <a:ext cx="2848373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6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9B136170-B80E-1D11-BFD6-02BF34CB2FC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57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Python</a:t>
            </a:r>
            <a:r>
              <a:rPr lang="pt-PT" dirty="0"/>
              <a:t> oferece várias abordagens para </a:t>
            </a:r>
            <a:r>
              <a:rPr lang="pt-PT" dirty="0" err="1"/>
              <a:t>scraping</a:t>
            </a:r>
            <a:r>
              <a:rPr lang="pt-PT" dirty="0"/>
              <a:t>: desde métodos básicos sem dependências até uso de bibliotecas mais complexas.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Métodos básicos como </a:t>
            </a:r>
            <a:r>
              <a:rPr lang="pt-PT" dirty="0" err="1"/>
              <a:t>string</a:t>
            </a:r>
            <a:r>
              <a:rPr lang="pt-PT" dirty="0"/>
              <a:t> </a:t>
            </a:r>
            <a:r>
              <a:rPr lang="pt-PT" dirty="0" err="1"/>
              <a:t>slicing</a:t>
            </a:r>
            <a:r>
              <a:rPr lang="pt-PT" dirty="0"/>
              <a:t> são úteis para casos simples, mas falham quando o HTML é irregular ou complexo.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Bibliotecas como </a:t>
            </a:r>
            <a:r>
              <a:rPr lang="pt-PT" dirty="0" err="1"/>
              <a:t>Beautiful</a:t>
            </a:r>
            <a:r>
              <a:rPr lang="pt-PT" dirty="0"/>
              <a:t> </a:t>
            </a:r>
            <a:r>
              <a:rPr lang="pt-PT" dirty="0" err="1"/>
              <a:t>Soup</a:t>
            </a:r>
            <a:r>
              <a:rPr lang="pt-PT" dirty="0"/>
              <a:t> e </a:t>
            </a:r>
            <a:r>
              <a:rPr lang="pt-PT" dirty="0" err="1"/>
              <a:t>MechanicalSoup</a:t>
            </a:r>
            <a:r>
              <a:rPr lang="pt-PT" dirty="0"/>
              <a:t> facilitam muito o trabalho, tornando o código mais limpo, robusto e fácil de manter.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É essencial respeitar os limites legais e éticos do </a:t>
            </a:r>
            <a:r>
              <a:rPr lang="pt-PT" dirty="0" err="1"/>
              <a:t>scraping</a:t>
            </a:r>
            <a:r>
              <a:rPr lang="pt-PT" dirty="0"/>
              <a:t> (termos de serviço, carga no servidor, privacidade dos dados).</a:t>
            </a:r>
          </a:p>
        </p:txBody>
      </p:sp>
    </p:spTree>
    <p:extLst>
      <p:ext uri="{BB962C8B-B14F-4D97-AF65-F5344CB8AC3E}">
        <p14:creationId xmlns:p14="http://schemas.microsoft.com/office/powerpoint/2010/main" val="99483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1">
            <a:extLst>
              <a:ext uri="{FF2B5EF4-FFF2-40B4-BE49-F238E27FC236}">
                <a16:creationId xmlns:a16="http://schemas.microsoft.com/office/drawing/2014/main" id="{B180FD03-E4A8-7DA1-22A9-97D115762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76" y="9186"/>
            <a:ext cx="61387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3- PESQUISA 2- Realizar um estudo de      			pesquisa de exemplos de código </a:t>
            </a:r>
            <a:r>
              <a:rPr lang="pt-PT" sz="12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pt-PT" sz="1200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9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 err="1">
                <a:cs typeface="Arial" panose="020B0604020202020204" pitchFamily="34" charset="0"/>
              </a:rPr>
              <a:t>Exemplos</a:t>
            </a:r>
            <a:r>
              <a:rPr lang="en-US" sz="1600" dirty="0">
                <a:cs typeface="Arial" panose="020B0604020202020204" pitchFamily="34" charset="0"/>
              </a:rPr>
              <a:t> de </a:t>
            </a:r>
            <a:r>
              <a:rPr lang="en-US" sz="1600" dirty="0" err="1">
                <a:cs typeface="Arial" panose="020B0604020202020204" pitchFamily="34" charset="0"/>
              </a:rPr>
              <a:t>código</a:t>
            </a:r>
            <a:r>
              <a:rPr lang="en-US" sz="1600" dirty="0">
                <a:cs typeface="Arial" panose="020B0604020202020204" pitchFamily="34" charset="0"/>
              </a:rPr>
              <a:t>: </a:t>
            </a:r>
            <a:r>
              <a:rPr lang="pt-PT" sz="1200" dirty="0">
                <a:hlinkClick r:id="rId3"/>
              </a:rPr>
              <a:t>https://realpython.com/python-web-scraping-practical-introduction/</a:t>
            </a:r>
            <a:endParaRPr lang="pt-PT" sz="1200" dirty="0"/>
          </a:p>
          <a:p>
            <a:r>
              <a:rPr lang="pt-PT" sz="1200" dirty="0"/>
              <a:t>		  </a:t>
            </a:r>
            <a:r>
              <a:rPr lang="pt-PT" sz="1200" dirty="0">
                <a:hlinkClick r:id="rId4"/>
              </a:rPr>
              <a:t>https://www.scrapingbee.com/blog/web-scraping-101-with-python/</a:t>
            </a:r>
            <a:endParaRPr lang="pt-PT" sz="1200" dirty="0"/>
          </a:p>
          <a:p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4218271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2033</Words>
  <Application>Microsoft Office PowerPoint</Application>
  <PresentationFormat>Apresentação no Ecrã (4:3)</PresentationFormat>
  <Paragraphs>233</Paragraphs>
  <Slides>17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0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233</cp:revision>
  <cp:lastPrinted>2020-09-27T18:04:57Z</cp:lastPrinted>
  <dcterms:created xsi:type="dcterms:W3CDTF">2011-05-31T09:21:51Z</dcterms:created>
  <dcterms:modified xsi:type="dcterms:W3CDTF">2025-09-29T15:02:02Z</dcterms:modified>
</cp:coreProperties>
</file>